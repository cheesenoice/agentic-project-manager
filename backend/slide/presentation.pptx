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011680"/>
            <a:ext cx="10362895" cy="2286000"/>
          </a:xfrm>
          <a:prstGeom prst="rect">
            <a:avLst/>
          </a:prstGeom>
          <a:noFill/>
        </p:spPr>
        <p:txBody>
          <a:bodyPr wrap="square">
            <a:spAutoFit/>
          </a:bodyPr>
          <a:lstStyle/>
          <a:p>
            <a:pPr algn="l">
              <a:defRPr sz="4400" b="1">
                <a:solidFill>
                  <a:srgbClr val="FFFFFF"/>
                </a:solidFill>
                <a:latin typeface="Segoe UI"/>
              </a:defRPr>
            </a:pPr>
            <a:r>
              <a:t>AI-Powered Project Management Board</a:t>
            </a:r>
          </a:p>
          <a:p>
            <a:pPr algn="l">
              <a:defRPr sz="2200">
                <a:solidFill>
                  <a:srgbClr val="4F46E5"/>
                </a:solidFill>
                <a:latin typeface="Segoe UI"/>
              </a:defRPr>
            </a:pPr>
            <a:r>
              <a:t>Advanced Orchestration with LangGraph &amp; Google Gemini API</a:t>
            </a:r>
          </a:p>
        </p:txBody>
      </p:sp>
      <p:sp>
        <p:nvSpPr>
          <p:cNvPr id="3" name="TextBox 2"/>
          <p:cNvSpPr txBox="1"/>
          <p:nvPr/>
        </p:nvSpPr>
        <p:spPr>
          <a:xfrm>
            <a:off x="914400" y="4572000"/>
            <a:ext cx="10362895" cy="1371600"/>
          </a:xfrm>
          <a:prstGeom prst="rect">
            <a:avLst/>
          </a:prstGeom>
          <a:noFill/>
        </p:spPr>
        <p:txBody>
          <a:bodyPr wrap="square">
            <a:spAutoFit/>
          </a:bodyPr>
          <a:lstStyle/>
          <a:p>
            <a:pPr>
              <a:defRPr sz="1400">
                <a:solidFill>
                  <a:srgbClr val="94A3B8"/>
                </a:solidFill>
                <a:latin typeface="Segoe UI"/>
              </a:defRPr>
            </a:pPr>
            <a:r>
              <a:t>Presenter: Project Development Team</a:t>
            </a:r>
          </a:p>
          <a:p>
            <a:pPr>
              <a:defRPr sz="1200" i="1">
                <a:solidFill>
                  <a:srgbClr val="94A3B8"/>
                </a:solidFill>
                <a:latin typeface="Segoe UI"/>
              </a:defRPr>
            </a:pPr>
            <a:r>
              <a:t>Tech Stack: React 19 • FastAPI • LangGraph • SQLite • Telegram Bot 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PROJECT MANAGEMENT</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Introducing the AI Task Coordinator</a:t>
            </a:r>
          </a:p>
        </p:txBody>
      </p:sp>
      <p:sp>
        <p:nvSpPr>
          <p:cNvPr id="5" name="TextBox 4"/>
          <p:cNvSpPr txBox="1"/>
          <p:nvPr/>
        </p:nvSpPr>
        <p:spPr>
          <a:xfrm>
            <a:off x="731520" y="1828800"/>
            <a:ext cx="5029200" cy="4114800"/>
          </a:xfrm>
          <a:prstGeom prst="rect">
            <a:avLst/>
          </a:prstGeom>
          <a:noFill/>
        </p:spPr>
        <p:txBody>
          <a:bodyPr wrap="square">
            <a:spAutoFit/>
          </a:bodyPr>
          <a:lstStyle/>
          <a:p>
            <a:pPr>
              <a:spcAft>
                <a:spcPts val="1200"/>
              </a:spcAft>
              <a:defRPr sz="1800" b="1">
                <a:solidFill>
                  <a:srgbClr val="4F46E5"/>
                </a:solidFill>
                <a:latin typeface="Segoe UI"/>
              </a:defRPr>
            </a:pPr>
            <a:r>
              <a:t>Core Concept</a:t>
            </a:r>
          </a:p>
          <a:p>
            <a:pPr>
              <a:lnSpc>
                <a:spcPct val="130000"/>
              </a:lnSpc>
              <a:defRPr sz="1400">
                <a:solidFill>
                  <a:srgbClr val="475569"/>
                </a:solidFill>
                <a:latin typeface="Segoe UI"/>
              </a:defRPr>
            </a:pPr>
            <a:r>
              <a:t>Our platform transcends conventional Kanban tools. It acts as an autonomous coordinator, utilizing an AI Agent constructed via LangGraph state charts to automate management overhead, resolve schedule bottlenecks, and direct workloads seamlessly.</a:t>
            </a:r>
          </a:p>
        </p:txBody>
      </p:sp>
      <p:sp>
        <p:nvSpPr>
          <p:cNvPr id="6" name="Rounded Rectangle 5"/>
          <p:cNvSpPr/>
          <p:nvPr/>
        </p:nvSpPr>
        <p:spPr>
          <a:xfrm>
            <a:off x="6217920" y="1828800"/>
            <a:ext cx="52120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011680"/>
            <a:ext cx="4663440" cy="3749039"/>
          </a:xfrm>
          <a:prstGeom prst="rect">
            <a:avLst/>
          </a:prstGeom>
          <a:noFill/>
        </p:spPr>
        <p:txBody>
          <a:bodyPr wrap="square">
            <a:spAutoFit/>
          </a:bodyPr>
          <a:lstStyle/>
          <a:p>
            <a:pPr>
              <a:spcAft>
                <a:spcPts val="1000"/>
              </a:spcAft>
              <a:defRPr sz="1800" b="1">
                <a:solidFill>
                  <a:srgbClr val="0F172A"/>
                </a:solidFill>
                <a:latin typeface="Segoe UI"/>
              </a:defRPr>
            </a:pPr>
            <a:r>
              <a:t>High-Value Innovations</a:t>
            </a:r>
          </a:p>
          <a:p>
            <a:pPr>
              <a:spcBef>
                <a:spcPts val="600"/>
              </a:spcBef>
              <a:defRPr sz="1300" b="1">
                <a:solidFill>
                  <a:srgbClr val="4F46E5"/>
                </a:solidFill>
                <a:latin typeface="Segoe UI"/>
              </a:defRPr>
            </a:pPr>
            <a:r>
              <a:t>✨ Auto-Allocation: </a:t>
            </a:r>
            <a:r>
              <a:rPr sz="1300" b="0">
                <a:solidFill>
                  <a:srgbClr val="475569"/>
                </a:solidFill>
                <a:latin typeface="Segoe UI"/>
              </a:rPr>
              <a:t>Analyzes developer workload &amp; skill compatibility to distribute tasks.</a:t>
            </a:r>
          </a:p>
          <a:p>
            <a:pPr>
              <a:spcBef>
                <a:spcPts val="600"/>
              </a:spcBef>
              <a:defRPr sz="1300" b="1">
                <a:solidFill>
                  <a:srgbClr val="4F46E5"/>
                </a:solidFill>
                <a:latin typeface="Segoe UI"/>
              </a:defRPr>
            </a:pPr>
            <a:r>
              <a:t>⚠️ Cascading Timelines: </a:t>
            </a:r>
            <a:r>
              <a:rPr sz="1300" b="0">
                <a:solidFill>
                  <a:srgbClr val="475569"/>
                </a:solidFill>
                <a:latin typeface="Segoe UI"/>
              </a:rPr>
              <a:t>Shifts downstream dependent tasks automatically on delay reports.</a:t>
            </a:r>
          </a:p>
          <a:p>
            <a:pPr>
              <a:spcBef>
                <a:spcPts val="600"/>
              </a:spcBef>
              <a:defRPr sz="1300" b="1">
                <a:solidFill>
                  <a:srgbClr val="4F46E5"/>
                </a:solidFill>
                <a:latin typeface="Segoe UI"/>
              </a:defRPr>
            </a:pPr>
            <a:r>
              <a:t>🔄 Subtask Status Rollup: </a:t>
            </a:r>
            <a:r>
              <a:rPr sz="1300" b="0">
                <a:solidFill>
                  <a:srgbClr val="475569"/>
                </a:solidFill>
                <a:latin typeface="Segoe UI"/>
              </a:rPr>
              <a:t>Completes parent tasks instantly when all subtasks reach DONE.</a:t>
            </a:r>
          </a:p>
          <a:p>
            <a:pPr>
              <a:spcBef>
                <a:spcPts val="600"/>
              </a:spcBef>
              <a:defRPr sz="1300" b="1">
                <a:solidFill>
                  <a:srgbClr val="4F46E5"/>
                </a:solidFill>
                <a:latin typeface="Segoe UI"/>
              </a:defRPr>
            </a:pPr>
            <a:r>
              <a:t>🔒 Strict Role Controls: </a:t>
            </a:r>
            <a:r>
              <a:rPr sz="1300" b="0">
                <a:solidFill>
                  <a:srgbClr val="475569"/>
                </a:solidFill>
                <a:latin typeface="Segoe UI"/>
              </a:rPr>
              <a:t>Enforces distinct actions for PM, Developer, and QA views.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ARCHITECTURE</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The Smart Tech Stack</a:t>
            </a:r>
          </a:p>
        </p:txBody>
      </p:sp>
      <p:sp>
        <p:nvSpPr>
          <p:cNvPr id="5" name="Rounded Rectangle 4"/>
          <p:cNvSpPr/>
          <p:nvPr/>
        </p:nvSpPr>
        <p:spPr>
          <a:xfrm>
            <a:off x="73152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3063240" cy="3749039"/>
          </a:xfrm>
          <a:prstGeom prst="rect">
            <a:avLst/>
          </a:prstGeom>
          <a:noFill/>
        </p:spPr>
        <p:txBody>
          <a:bodyPr wrap="square">
            <a:spAutoFit/>
          </a:bodyPr>
          <a:lstStyle/>
          <a:p>
            <a:pPr>
              <a:defRPr sz="1300" b="1">
                <a:solidFill>
                  <a:srgbClr val="4F46E5"/>
                </a:solidFill>
                <a:latin typeface="Segoe UI"/>
              </a:defRPr>
            </a:pPr>
            <a:r>
              <a:t>FRONTEND INTERFACE</a:t>
            </a:r>
          </a:p>
          <a:p>
            <a:pPr>
              <a:spcAft>
                <a:spcPts val="1400"/>
              </a:spcAft>
              <a:defRPr sz="1400" b="1">
                <a:solidFill>
                  <a:srgbClr val="0F172A"/>
                </a:solidFill>
                <a:latin typeface="Segoe UI"/>
              </a:defRPr>
            </a:pPr>
            <a:r>
              <a:t>React 19 &amp; TypeScript</a:t>
            </a:r>
          </a:p>
          <a:p>
            <a:pPr>
              <a:spcAft>
                <a:spcPts val="600"/>
              </a:spcAft>
              <a:defRPr sz="1150">
                <a:solidFill>
                  <a:srgbClr val="475569"/>
                </a:solidFill>
                <a:latin typeface="Segoe UI"/>
              </a:defRPr>
            </a:pPr>
            <a:r>
              <a:t>• </a:t>
            </a:r>
            <a:r>
              <a:rPr sz="1150">
                <a:solidFill>
                  <a:srgbClr val="475569"/>
                </a:solidFill>
                <a:latin typeface="Segoe UI"/>
              </a:rPr>
              <a:t>Vite compiler for rapid development &amp; HMR</a:t>
            </a:r>
          </a:p>
          <a:p>
            <a:pPr>
              <a:spcAft>
                <a:spcPts val="600"/>
              </a:spcAft>
              <a:defRPr sz="1150">
                <a:solidFill>
                  <a:srgbClr val="475569"/>
                </a:solidFill>
                <a:latin typeface="Segoe UI"/>
              </a:defRPr>
            </a:pPr>
            <a:r>
              <a:t>• </a:t>
            </a:r>
            <a:r>
              <a:rPr sz="1150">
                <a:solidFill>
                  <a:srgbClr val="475569"/>
                </a:solidFill>
                <a:latin typeface="Segoe UI"/>
              </a:rPr>
              <a:t>Vanilla CSS for clean, lightweight, custom glassmorphic layout</a:t>
            </a:r>
          </a:p>
          <a:p>
            <a:pPr>
              <a:spcAft>
                <a:spcPts val="600"/>
              </a:spcAft>
              <a:defRPr sz="1150">
                <a:solidFill>
                  <a:srgbClr val="475569"/>
                </a:solidFill>
                <a:latin typeface="Segoe UI"/>
              </a:defRPr>
            </a:pPr>
            <a:r>
              <a:t>• </a:t>
            </a:r>
            <a:r>
              <a:rPr sz="1150">
                <a:solidFill>
                  <a:srgbClr val="475569"/>
                </a:solidFill>
                <a:latin typeface="Segoe UI"/>
              </a:rPr>
              <a:t>Lucide Icons for visual consistency</a:t>
            </a:r>
          </a:p>
          <a:p>
            <a:pPr>
              <a:spcAft>
                <a:spcPts val="600"/>
              </a:spcAft>
              <a:defRPr sz="1150">
                <a:solidFill>
                  <a:srgbClr val="475569"/>
                </a:solidFill>
                <a:latin typeface="Segoe UI"/>
              </a:defRPr>
            </a:pPr>
            <a:r>
              <a:t>• </a:t>
            </a:r>
            <a:r>
              <a:rPr sz="1150">
                <a:solidFill>
                  <a:srgbClr val="475569"/>
                </a:solidFill>
                <a:latin typeface="Segoe UI"/>
              </a:rPr>
              <a:t>Multi-View Dashboard (Kanban, Tree, Gantt, Calendar, Health, HR)</a:t>
            </a:r>
          </a:p>
        </p:txBody>
      </p:sp>
      <p:sp>
        <p:nvSpPr>
          <p:cNvPr id="7" name="Rounded Rectangle 6"/>
          <p:cNvSpPr/>
          <p:nvPr/>
        </p:nvSpPr>
        <p:spPr>
          <a:xfrm>
            <a:off x="434340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2011680"/>
            <a:ext cx="3063240" cy="3749039"/>
          </a:xfrm>
          <a:prstGeom prst="rect">
            <a:avLst/>
          </a:prstGeom>
          <a:noFill/>
        </p:spPr>
        <p:txBody>
          <a:bodyPr wrap="square">
            <a:spAutoFit/>
          </a:bodyPr>
          <a:lstStyle/>
          <a:p>
            <a:pPr>
              <a:defRPr sz="1300" b="1">
                <a:solidFill>
                  <a:srgbClr val="4F46E5"/>
                </a:solidFill>
                <a:latin typeface="Segoe UI"/>
              </a:defRPr>
            </a:pPr>
            <a:r>
              <a:t>BACKEND ENGINE</a:t>
            </a:r>
          </a:p>
          <a:p>
            <a:pPr>
              <a:spcAft>
                <a:spcPts val="1400"/>
              </a:spcAft>
              <a:defRPr sz="1400" b="1">
                <a:solidFill>
                  <a:srgbClr val="0F172A"/>
                </a:solidFill>
                <a:latin typeface="Segoe UI"/>
              </a:defRPr>
            </a:pPr>
            <a:r>
              <a:t>FastAPI &amp; Python</a:t>
            </a:r>
          </a:p>
          <a:p>
            <a:pPr>
              <a:spcAft>
                <a:spcPts val="600"/>
              </a:spcAft>
              <a:defRPr sz="1150">
                <a:solidFill>
                  <a:srgbClr val="475569"/>
                </a:solidFill>
                <a:latin typeface="Segoe UI"/>
              </a:defRPr>
            </a:pPr>
            <a:r>
              <a:t>• </a:t>
            </a:r>
            <a:r>
              <a:rPr sz="1150">
                <a:solidFill>
                  <a:srgbClr val="475569"/>
                </a:solidFill>
                <a:latin typeface="Segoe UI"/>
              </a:rPr>
              <a:t>Asynchronous handlers using SQLAlchemy &amp; aiosqlite</a:t>
            </a:r>
          </a:p>
          <a:p>
            <a:pPr>
              <a:spcAft>
                <a:spcPts val="600"/>
              </a:spcAft>
              <a:defRPr sz="1150">
                <a:solidFill>
                  <a:srgbClr val="475569"/>
                </a:solidFill>
                <a:latin typeface="Segoe UI"/>
              </a:defRPr>
            </a:pPr>
            <a:r>
              <a:t>• </a:t>
            </a:r>
            <a:r>
              <a:rPr sz="1150">
                <a:solidFill>
                  <a:srgbClr val="475569"/>
                </a:solidFill>
                <a:latin typeface="Segoe UI"/>
              </a:rPr>
              <a:t>FastAPI routers for modular REST endpoints</a:t>
            </a:r>
          </a:p>
          <a:p>
            <a:pPr>
              <a:spcAft>
                <a:spcPts val="600"/>
              </a:spcAft>
              <a:defRPr sz="1150">
                <a:solidFill>
                  <a:srgbClr val="475569"/>
                </a:solidFill>
                <a:latin typeface="Segoe UI"/>
              </a:defRPr>
            </a:pPr>
            <a:r>
              <a:t>• </a:t>
            </a:r>
            <a:r>
              <a:rPr sz="1150">
                <a:solidFill>
                  <a:srgbClr val="475569"/>
                </a:solidFill>
                <a:latin typeface="Segoe UI"/>
              </a:rPr>
              <a:t>APScheduler background runner for active deadline scanning</a:t>
            </a:r>
          </a:p>
          <a:p>
            <a:pPr>
              <a:spcAft>
                <a:spcPts val="600"/>
              </a:spcAft>
              <a:defRPr sz="1150">
                <a:solidFill>
                  <a:srgbClr val="475569"/>
                </a:solidFill>
                <a:latin typeface="Segoe UI"/>
              </a:defRPr>
            </a:pPr>
            <a:r>
              <a:t>• </a:t>
            </a:r>
            <a:r>
              <a:rPr sz="1150">
                <a:solidFill>
                  <a:srgbClr val="475569"/>
                </a:solidFill>
                <a:latin typeface="Segoe UI"/>
              </a:rPr>
              <a:t>Telegram Bot API integration for real-time notifications</a:t>
            </a:r>
          </a:p>
        </p:txBody>
      </p:sp>
      <p:sp>
        <p:nvSpPr>
          <p:cNvPr id="9" name="Rounded Rectangle 8"/>
          <p:cNvSpPr/>
          <p:nvPr/>
        </p:nvSpPr>
        <p:spPr>
          <a:xfrm>
            <a:off x="795528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011680"/>
            <a:ext cx="3063240" cy="3749039"/>
          </a:xfrm>
          <a:prstGeom prst="rect">
            <a:avLst/>
          </a:prstGeom>
          <a:noFill/>
        </p:spPr>
        <p:txBody>
          <a:bodyPr wrap="square">
            <a:spAutoFit/>
          </a:bodyPr>
          <a:lstStyle/>
          <a:p>
            <a:pPr>
              <a:defRPr sz="1300" b="1">
                <a:solidFill>
                  <a:srgbClr val="4F46E5"/>
                </a:solidFill>
                <a:latin typeface="Segoe UI"/>
              </a:defRPr>
            </a:pPr>
            <a:r>
              <a:t>AI ORCHESTRATOR</a:t>
            </a:r>
          </a:p>
          <a:p>
            <a:pPr>
              <a:spcAft>
                <a:spcPts val="1400"/>
              </a:spcAft>
              <a:defRPr sz="1400" b="1">
                <a:solidFill>
                  <a:srgbClr val="0F172A"/>
                </a:solidFill>
                <a:latin typeface="Segoe UI"/>
              </a:defRPr>
            </a:pPr>
            <a:r>
              <a:t>LangGraph &amp; Gemini API</a:t>
            </a:r>
          </a:p>
          <a:p>
            <a:pPr>
              <a:spcAft>
                <a:spcPts val="600"/>
              </a:spcAft>
              <a:defRPr sz="1150">
                <a:solidFill>
                  <a:srgbClr val="475569"/>
                </a:solidFill>
                <a:latin typeface="Segoe UI"/>
              </a:defRPr>
            </a:pPr>
            <a:r>
              <a:t>• </a:t>
            </a:r>
            <a:r>
              <a:rPr sz="1150">
                <a:solidFill>
                  <a:srgbClr val="475569"/>
                </a:solidFill>
                <a:latin typeface="Segoe UI"/>
              </a:rPr>
              <a:t>StateGraph architecture defining logical workflow loops</a:t>
            </a:r>
          </a:p>
          <a:p>
            <a:pPr>
              <a:spcAft>
                <a:spcPts val="600"/>
              </a:spcAft>
              <a:defRPr sz="1150">
                <a:solidFill>
                  <a:srgbClr val="475569"/>
                </a:solidFill>
                <a:latin typeface="Segoe UI"/>
              </a:defRPr>
            </a:pPr>
            <a:r>
              <a:t>• </a:t>
            </a:r>
            <a:r>
              <a:rPr sz="1150">
                <a:solidFill>
                  <a:srgbClr val="475569"/>
                </a:solidFill>
                <a:latin typeface="Segoe UI"/>
              </a:rPr>
              <a:t>Google Gemini API via LangChain integration</a:t>
            </a:r>
          </a:p>
          <a:p>
            <a:pPr>
              <a:spcAft>
                <a:spcPts val="600"/>
              </a:spcAft>
              <a:defRPr sz="1150">
                <a:solidFill>
                  <a:srgbClr val="475569"/>
                </a:solidFill>
                <a:latin typeface="Segoe UI"/>
              </a:defRPr>
            </a:pPr>
            <a:r>
              <a:t>• </a:t>
            </a:r>
            <a:r>
              <a:rPr sz="1150">
                <a:solidFill>
                  <a:srgbClr val="475569"/>
                </a:solidFill>
                <a:latin typeface="Segoe UI"/>
              </a:rPr>
              <a:t>Auto-Allocation &amp; Cascading Shift decision engines</a:t>
            </a:r>
          </a:p>
          <a:p>
            <a:pPr>
              <a:spcAft>
                <a:spcPts val="600"/>
              </a:spcAft>
              <a:defRPr sz="1150">
                <a:solidFill>
                  <a:srgbClr val="475569"/>
                </a:solidFill>
                <a:latin typeface="Segoe UI"/>
              </a:defRPr>
            </a:pPr>
            <a:r>
              <a:t>• </a:t>
            </a:r>
            <a:r>
              <a:rPr sz="1150">
                <a:solidFill>
                  <a:srgbClr val="475569"/>
                </a:solidFill>
                <a:latin typeface="Segoe UI"/>
              </a:rPr>
              <a:t>Task-level Pair Programming chatbot assistant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TEAM RESOURCE PLANNING</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Team Composition &amp; Even Task Distribution</a:t>
            </a:r>
          </a:p>
        </p:txBody>
      </p:sp>
      <p:sp>
        <p:nvSpPr>
          <p:cNvPr id="5" name="Rounded Rectangle 4"/>
          <p:cNvSpPr/>
          <p:nvPr/>
        </p:nvSpPr>
        <p:spPr>
          <a:xfrm>
            <a:off x="73152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3429000"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3063240" cy="3749040"/>
          </a:xfrm>
          <a:prstGeom prst="rect">
            <a:avLst/>
          </a:prstGeom>
          <a:noFill/>
        </p:spPr>
        <p:txBody>
          <a:bodyPr wrap="square">
            <a:spAutoFit/>
          </a:bodyPr>
          <a:lstStyle/>
          <a:p>
            <a:pPr>
              <a:defRPr sz="1200" b="1">
                <a:solidFill>
                  <a:srgbClr val="4F46E5"/>
                </a:solidFill>
                <a:latin typeface="Segoe UI"/>
              </a:defRPr>
            </a:pPr>
            <a:r>
              <a:t>MEMBER A</a:t>
            </a:r>
          </a:p>
          <a:p>
            <a:pPr>
              <a:defRPr sz="1500" b="1">
                <a:solidFill>
                  <a:srgbClr val="0F172A"/>
                </a:solidFill>
                <a:latin typeface="Segoe UI"/>
              </a:defRPr>
            </a:pPr>
            <a:r>
              <a:t>Project Manager (PM)</a:t>
            </a:r>
          </a:p>
          <a:p>
            <a:pPr>
              <a:spcAft>
                <a:spcPts val="1000"/>
              </a:spcAft>
              <a:defRPr sz="1000" i="1">
                <a:solidFill>
                  <a:srgbClr val="475569"/>
                </a:solidFill>
                <a:latin typeface="Segoe UI"/>
              </a:defRPr>
            </a:pPr>
            <a:r>
              <a:t>Role: Overall Project Orchestrator</a:t>
            </a:r>
          </a:p>
          <a:p>
            <a:pPr>
              <a:spcAft>
                <a:spcPts val="500"/>
              </a:spcAft>
              <a:defRPr sz="1050">
                <a:solidFill>
                  <a:srgbClr val="475569"/>
                </a:solidFill>
                <a:latin typeface="Segoe UI"/>
              </a:defRPr>
            </a:pPr>
            <a:r>
              <a:t>• Responsible for project scheduling, defining tasks, and monitoring Gantt cascades.</a:t>
            </a:r>
          </a:p>
          <a:p>
            <a:pPr>
              <a:spcAft>
                <a:spcPts val="500"/>
              </a:spcAft>
              <a:defRPr sz="1050" b="1">
                <a:solidFill>
                  <a:srgbClr val="0F172A"/>
                </a:solidFill>
                <a:latin typeface="Segoe UI"/>
              </a:defRPr>
            </a:pPr>
            <a:r>
              <a:t>Assigned Tasks (Balanced workload):</a:t>
            </a:r>
          </a:p>
          <a:p>
            <a:pPr>
              <a:spcAft>
                <a:spcPts val="500"/>
              </a:spcAft>
              <a:defRPr sz="1050">
                <a:solidFill>
                  <a:srgbClr val="475569"/>
                </a:solidFill>
                <a:latin typeface="Segoe UI"/>
              </a:defRPr>
            </a:pPr>
            <a:r>
              <a:t>• 1. Project Planning &amp; Req. Gathering (4 hrs)</a:t>
            </a:r>
          </a:p>
          <a:p>
            <a:pPr>
              <a:spcAft>
                <a:spcPts val="500"/>
              </a:spcAft>
              <a:defRPr sz="1050">
                <a:solidFill>
                  <a:srgbClr val="475569"/>
                </a:solidFill>
                <a:latin typeface="Segoe UI"/>
              </a:defRPr>
            </a:pPr>
            <a:r>
              <a:t>• 2. DB Schema Specification Review (2 hrs)</a:t>
            </a:r>
          </a:p>
          <a:p>
            <a:pPr>
              <a:spcAft>
                <a:spcPts val="500"/>
              </a:spcAft>
              <a:defRPr sz="1050">
                <a:solidFill>
                  <a:srgbClr val="475569"/>
                </a:solidFill>
                <a:latin typeface="Segoe UI"/>
              </a:defRPr>
            </a:pPr>
            <a:r>
              <a:t>• 3. Timeline Cascade &amp; Progress Sign-off (3 hrs)</a:t>
            </a:r>
          </a:p>
        </p:txBody>
      </p:sp>
      <p:sp>
        <p:nvSpPr>
          <p:cNvPr id="8" name="Rounded Rectangle 7"/>
          <p:cNvSpPr/>
          <p:nvPr/>
        </p:nvSpPr>
        <p:spPr>
          <a:xfrm>
            <a:off x="434340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828800"/>
            <a:ext cx="342900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011680"/>
            <a:ext cx="3063240" cy="3749040"/>
          </a:xfrm>
          <a:prstGeom prst="rect">
            <a:avLst/>
          </a:prstGeom>
          <a:noFill/>
        </p:spPr>
        <p:txBody>
          <a:bodyPr wrap="square">
            <a:spAutoFit/>
          </a:bodyPr>
          <a:lstStyle/>
          <a:p>
            <a:pPr>
              <a:defRPr sz="1200" b="1">
                <a:solidFill>
                  <a:srgbClr val="10B981"/>
                </a:solidFill>
                <a:latin typeface="Segoe UI"/>
              </a:defRPr>
            </a:pPr>
            <a:r>
              <a:t>MEMBER B</a:t>
            </a:r>
          </a:p>
          <a:p>
            <a:pPr>
              <a:defRPr sz="1500" b="1">
                <a:solidFill>
                  <a:srgbClr val="0F172A"/>
                </a:solidFill>
                <a:latin typeface="Segoe UI"/>
              </a:defRPr>
            </a:pPr>
            <a:r>
              <a:t>Frontend Developer</a:t>
            </a:r>
          </a:p>
          <a:p>
            <a:pPr>
              <a:spcAft>
                <a:spcPts val="1000"/>
              </a:spcAft>
              <a:defRPr sz="1000" i="1">
                <a:solidFill>
                  <a:srgbClr val="475569"/>
                </a:solidFill>
                <a:latin typeface="Segoe UI"/>
              </a:defRPr>
            </a:pPr>
            <a:r>
              <a:t>Role: UI/UX Implementation</a:t>
            </a:r>
          </a:p>
          <a:p>
            <a:pPr>
              <a:spcAft>
                <a:spcPts val="500"/>
              </a:spcAft>
              <a:defRPr sz="1050">
                <a:solidFill>
                  <a:srgbClr val="475569"/>
                </a:solidFill>
                <a:latin typeface="Segoe UI"/>
              </a:defRPr>
            </a:pPr>
            <a:r>
              <a:t>• Responsible for building responsive interface components and layout styling.</a:t>
            </a:r>
          </a:p>
          <a:p>
            <a:pPr>
              <a:spcAft>
                <a:spcPts val="500"/>
              </a:spcAft>
              <a:defRPr sz="1050" b="1">
                <a:solidFill>
                  <a:srgbClr val="0F172A"/>
                </a:solidFill>
                <a:latin typeface="Segoe UI"/>
              </a:defRPr>
            </a:pPr>
            <a:r>
              <a:t>Assigned Tasks (Balanced workload):</a:t>
            </a:r>
          </a:p>
          <a:p>
            <a:pPr>
              <a:spcAft>
                <a:spcPts val="500"/>
              </a:spcAft>
              <a:defRPr sz="1050">
                <a:solidFill>
                  <a:srgbClr val="475569"/>
                </a:solidFill>
                <a:latin typeface="Segoe UI"/>
              </a:defRPr>
            </a:pPr>
            <a:r>
              <a:t>• 1. Dashboard Kanban View &amp; D&amp;D (6 hrs)</a:t>
            </a:r>
          </a:p>
          <a:p>
            <a:pPr>
              <a:spcAft>
                <a:spcPts val="500"/>
              </a:spcAft>
              <a:defRPr sz="1050">
                <a:solidFill>
                  <a:srgbClr val="475569"/>
                </a:solidFill>
                <a:latin typeface="Segoe UI"/>
              </a:defRPr>
            </a:pPr>
            <a:r>
              <a:t>• 2. Gantt Diagram SVG Layout (5 hrs)</a:t>
            </a:r>
          </a:p>
          <a:p>
            <a:pPr>
              <a:spcAft>
                <a:spcPts val="500"/>
              </a:spcAft>
              <a:defRPr sz="1050">
                <a:solidFill>
                  <a:srgbClr val="475569"/>
                </a:solidFill>
                <a:latin typeface="Segoe UI"/>
              </a:defRPr>
            </a:pPr>
            <a:r>
              <a:t>• 3. Interactive Forms &amp; Chat Box (4 hrs)</a:t>
            </a:r>
          </a:p>
        </p:txBody>
      </p:sp>
      <p:sp>
        <p:nvSpPr>
          <p:cNvPr id="11" name="Rounded Rectangle 10"/>
          <p:cNvSpPr/>
          <p:nvPr/>
        </p:nvSpPr>
        <p:spPr>
          <a:xfrm>
            <a:off x="795528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55280" y="1828800"/>
            <a:ext cx="3429000"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011680"/>
            <a:ext cx="3063240" cy="3749040"/>
          </a:xfrm>
          <a:prstGeom prst="rect">
            <a:avLst/>
          </a:prstGeom>
          <a:noFill/>
        </p:spPr>
        <p:txBody>
          <a:bodyPr wrap="square">
            <a:spAutoFit/>
          </a:bodyPr>
          <a:lstStyle/>
          <a:p>
            <a:pPr>
              <a:defRPr sz="1200" b="1">
                <a:solidFill>
                  <a:srgbClr val="EF4444"/>
                </a:solidFill>
                <a:latin typeface="Segoe UI"/>
              </a:defRPr>
            </a:pPr>
            <a:r>
              <a:t>MEMBER C</a:t>
            </a:r>
          </a:p>
          <a:p>
            <a:pPr>
              <a:defRPr sz="1500" b="1">
                <a:solidFill>
                  <a:srgbClr val="0F172A"/>
                </a:solidFill>
                <a:latin typeface="Segoe UI"/>
              </a:defRPr>
            </a:pPr>
            <a:r>
              <a:t>Backend Dev &amp; QA</a:t>
            </a:r>
          </a:p>
          <a:p>
            <a:pPr>
              <a:spcAft>
                <a:spcPts val="1000"/>
              </a:spcAft>
              <a:defRPr sz="1000" i="1">
                <a:solidFill>
                  <a:srgbClr val="475569"/>
                </a:solidFill>
                <a:latin typeface="Segoe UI"/>
              </a:defRPr>
            </a:pPr>
            <a:r>
              <a:t>Role: Core Logic &amp; Quality Assurance</a:t>
            </a:r>
          </a:p>
          <a:p>
            <a:pPr>
              <a:spcAft>
                <a:spcPts val="500"/>
              </a:spcAft>
              <a:defRPr sz="1050">
                <a:solidFill>
                  <a:srgbClr val="475569"/>
                </a:solidFill>
                <a:latin typeface="Segoe UI"/>
              </a:defRPr>
            </a:pPr>
            <a:r>
              <a:t>• Responsible for FastAPI endpoints, DB engine, and validating task metrics.</a:t>
            </a:r>
          </a:p>
          <a:p>
            <a:pPr>
              <a:spcAft>
                <a:spcPts val="500"/>
              </a:spcAft>
              <a:defRPr sz="1050" b="1">
                <a:solidFill>
                  <a:srgbClr val="0F172A"/>
                </a:solidFill>
                <a:latin typeface="Segoe UI"/>
              </a:defRPr>
            </a:pPr>
            <a:r>
              <a:t>Assigned Tasks (Balanced workload):</a:t>
            </a:r>
          </a:p>
          <a:p>
            <a:pPr>
              <a:spcAft>
                <a:spcPts val="500"/>
              </a:spcAft>
              <a:defRPr sz="1050">
                <a:solidFill>
                  <a:srgbClr val="475569"/>
                </a:solidFill>
                <a:latin typeface="Segoe UI"/>
              </a:defRPr>
            </a:pPr>
            <a:r>
              <a:t>• 1. SQLAlchemy Model Setup &amp; Migration (5 hrs)</a:t>
            </a:r>
          </a:p>
          <a:p>
            <a:pPr>
              <a:spcAft>
                <a:spcPts val="500"/>
              </a:spcAft>
              <a:defRPr sz="1050">
                <a:solidFill>
                  <a:srgbClr val="475569"/>
                </a:solidFill>
                <a:latin typeface="Segoe UI"/>
              </a:defRPr>
            </a:pPr>
            <a:r>
              <a:t>• 2. StateGraph Routing Logic (4 hrs)</a:t>
            </a:r>
          </a:p>
          <a:p>
            <a:pPr>
              <a:spcAft>
                <a:spcPts val="500"/>
              </a:spcAft>
              <a:defRPr sz="1050">
                <a:solidFill>
                  <a:srgbClr val="475569"/>
                </a:solidFill>
                <a:latin typeface="Segoe UI"/>
              </a:defRPr>
            </a:pPr>
            <a:r>
              <a:t>• 3. Comprehensive Testing &amp; Validation (6 hrs)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SYSTEM VERIFICATION</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Live Demo Scenarios Flow</a:t>
            </a:r>
          </a:p>
        </p:txBody>
      </p:sp>
      <p:sp>
        <p:nvSpPr>
          <p:cNvPr id="5" name="TextBox 4"/>
          <p:cNvSpPr txBox="1"/>
          <p:nvPr/>
        </p:nvSpPr>
        <p:spPr>
          <a:xfrm>
            <a:off x="731520" y="1828800"/>
            <a:ext cx="5120640" cy="4114800"/>
          </a:xfrm>
          <a:prstGeom prst="rect">
            <a:avLst/>
          </a:prstGeom>
          <a:noFill/>
        </p:spPr>
        <p:txBody>
          <a:bodyPr wrap="square">
            <a:spAutoFit/>
          </a:bodyPr>
          <a:lstStyle/>
          <a:p>
            <a:pPr>
              <a:spcAft>
                <a:spcPts val="1000"/>
              </a:spcAft>
              <a:defRPr sz="1600" b="1">
                <a:solidFill>
                  <a:srgbClr val="0F172A"/>
                </a:solidFill>
                <a:latin typeface="Segoe UI"/>
              </a:defRPr>
            </a:pPr>
            <a:r>
              <a:t>Part 1: Core Dashboard &amp; Controls</a:t>
            </a:r>
          </a:p>
          <a:p>
            <a:pPr>
              <a:spcBef>
                <a:spcPts val="800"/>
              </a:spcBef>
              <a:defRPr sz="1300" b="1">
                <a:solidFill>
                  <a:srgbClr val="4F46E5"/>
                </a:solidFill>
                <a:latin typeface="Segoe UI"/>
              </a:defRPr>
            </a:pPr>
            <a:r>
              <a:t>1. Role Switcher &amp; Strict Permissions</a:t>
            </a:r>
          </a:p>
          <a:p>
            <a:pPr>
              <a:spcAft>
                <a:spcPts val="600"/>
              </a:spcAft>
              <a:defRPr sz="1200">
                <a:solidFill>
                  <a:srgbClr val="475569"/>
                </a:solidFill>
                <a:latin typeface="Segoe UI"/>
              </a:defRPr>
            </a:pPr>
            <a:r>
              <a:t>Switch from Alice (PM) to Bob (Dev) to prove Bob cannot edit PM fields or approve Done tasks.</a:t>
            </a:r>
          </a:p>
          <a:p>
            <a:pPr>
              <a:spcBef>
                <a:spcPts val="800"/>
              </a:spcBef>
              <a:defRPr sz="1300" b="1">
                <a:solidFill>
                  <a:srgbClr val="4F46E5"/>
                </a:solidFill>
                <a:latin typeface="Segoe UI"/>
              </a:defRPr>
            </a:pPr>
            <a:r>
              <a:t>2. Real-time Kanban Drag &amp; Drop</a:t>
            </a:r>
          </a:p>
          <a:p>
            <a:pPr>
              <a:spcAft>
                <a:spcPts val="600"/>
              </a:spcAft>
              <a:defRPr sz="1200">
                <a:solidFill>
                  <a:srgbClr val="475569"/>
                </a:solidFill>
                <a:latin typeface="Segoe UI"/>
              </a:defRPr>
            </a:pPr>
            <a:r>
              <a:t>Perform task status updates using drag and drop, and fill out the progress transition comment using AI suggestions.</a:t>
            </a:r>
          </a:p>
          <a:p>
            <a:pPr>
              <a:spcBef>
                <a:spcPts val="800"/>
              </a:spcBef>
              <a:defRPr sz="1300" b="1">
                <a:solidFill>
                  <a:srgbClr val="4F46E5"/>
                </a:solidFill>
                <a:latin typeface="Segoe UI"/>
              </a:defRPr>
            </a:pPr>
            <a:r>
              <a:t>3. Project &amp; Task Auto-Decomposition</a:t>
            </a:r>
          </a:p>
          <a:p>
            <a:pPr>
              <a:spcAft>
                <a:spcPts val="600"/>
              </a:spcAft>
              <a:defRPr sz="1200">
                <a:solidFill>
                  <a:srgbClr val="475569"/>
                </a:solidFill>
                <a:latin typeface="Segoe UI"/>
              </a:defRPr>
            </a:pPr>
            <a:r>
              <a:t>Create a new project 'E-Commerce Mobile App' and trigger the AI Agent to generate Epics/Features/Tasks/Subtasks.</a:t>
            </a:r>
          </a:p>
        </p:txBody>
      </p:sp>
      <p:sp>
        <p:nvSpPr>
          <p:cNvPr id="6" name="TextBox 5"/>
          <p:cNvSpPr txBox="1"/>
          <p:nvPr/>
        </p:nvSpPr>
        <p:spPr>
          <a:xfrm>
            <a:off x="6309360" y="1828800"/>
            <a:ext cx="5120640" cy="4114800"/>
          </a:xfrm>
          <a:prstGeom prst="rect">
            <a:avLst/>
          </a:prstGeom>
          <a:noFill/>
        </p:spPr>
        <p:txBody>
          <a:bodyPr wrap="square">
            <a:spAutoFit/>
          </a:bodyPr>
          <a:lstStyle/>
          <a:p>
            <a:pPr>
              <a:spcAft>
                <a:spcPts val="1000"/>
              </a:spcAft>
              <a:defRPr sz="1600" b="1">
                <a:solidFill>
                  <a:srgbClr val="0F172A"/>
                </a:solidFill>
                <a:latin typeface="Segoe UI"/>
              </a:defRPr>
            </a:pPr>
            <a:r>
              <a:t>Part 2: Intelligent Workflows</a:t>
            </a:r>
          </a:p>
          <a:p>
            <a:pPr>
              <a:spcBef>
                <a:spcPts val="800"/>
              </a:spcBef>
              <a:defRPr sz="1300" b="1">
                <a:solidFill>
                  <a:srgbClr val="4F46E5"/>
                </a:solidFill>
                <a:latin typeface="Segoe UI"/>
              </a:defRPr>
            </a:pPr>
            <a:r>
              <a:t>4. Auto Allocation &amp; Gantt Cascade</a:t>
            </a:r>
          </a:p>
          <a:p>
            <a:pPr>
              <a:spcAft>
                <a:spcPts val="600"/>
              </a:spcAft>
              <a:defRPr sz="1200">
                <a:solidFill>
                  <a:srgbClr val="475569"/>
                </a:solidFill>
                <a:latin typeface="Segoe UI"/>
              </a:defRPr>
            </a:pPr>
            <a:r>
              <a:t>Use the ✨ Auto Allocate prompt. Report a delay on Task 35 to show the dependent tasks on the Gantt chart shift automatically.</a:t>
            </a:r>
          </a:p>
          <a:p>
            <a:pPr>
              <a:spcBef>
                <a:spcPts val="800"/>
              </a:spcBef>
              <a:defRPr sz="1300" b="1">
                <a:solidFill>
                  <a:srgbClr val="4F46E5"/>
                </a:solidFill>
                <a:latin typeface="Segoe UI"/>
              </a:defRPr>
            </a:pPr>
            <a:r>
              <a:t>5. QA Auto Routing &amp; Task Blocking</a:t>
            </a:r>
          </a:p>
          <a:p>
            <a:pPr>
              <a:spcAft>
                <a:spcPts val="600"/>
              </a:spcAft>
              <a:defRPr sz="1200">
                <a:solidFill>
                  <a:srgbClr val="475569"/>
                </a:solidFill>
                <a:latin typeface="Segoe UI"/>
              </a:defRPr>
            </a:pPr>
            <a:r>
              <a:t>Mark all subtasks as Done to trigger auto-assignment to QA. Move a task to Blocked to trigger risk-mitigation banner alerts.</a:t>
            </a:r>
          </a:p>
        </p:txBody>
      </p:sp>
      <p:sp>
        <p:nvSpPr>
          <p:cNvPr id="7" name="Rounded Rectangle 6"/>
          <p:cNvSpPr/>
          <p:nvPr/>
        </p:nvSpPr>
        <p:spPr>
          <a:xfrm>
            <a:off x="6309360" y="4572000"/>
            <a:ext cx="5120640" cy="10972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4663440"/>
            <a:ext cx="4937760" cy="914400"/>
          </a:xfrm>
          <a:prstGeom prst="rect">
            <a:avLst/>
          </a:prstGeom>
          <a:noFill/>
        </p:spPr>
        <p:txBody>
          <a:bodyPr wrap="square">
            <a:spAutoFit/>
          </a:bodyPr>
          <a:lstStyle/>
          <a:p>
            <a:pPr>
              <a:defRPr sz="1200" b="1">
                <a:solidFill>
                  <a:srgbClr val="0369A1"/>
                </a:solidFill>
                <a:latin typeface="Segoe UI"/>
              </a:defRPr>
            </a:pPr>
            <a:r>
              <a:t>🔔 Telegram Notifications Alert</a:t>
            </a:r>
          </a:p>
          <a:p>
            <a:pPr>
              <a:defRPr sz="1000">
                <a:solidFill>
                  <a:srgbClr val="075985"/>
                </a:solidFill>
                <a:latin typeface="Segoe UI"/>
              </a:defRPr>
            </a:pPr>
            <a:r>
              <a:t>Every status update, timeline shift, and approaching/overdue deadline automatically tags the corresponding user on Telegram for instant project visibility.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2011680"/>
            <a:ext cx="8534095" cy="3200400"/>
          </a:xfrm>
          <a:prstGeom prst="rect">
            <a:avLst/>
          </a:prstGeom>
          <a:noFill/>
        </p:spPr>
        <p:txBody>
          <a:bodyPr wrap="square">
            <a:spAutoFit/>
          </a:bodyPr>
          <a:lstStyle/>
          <a:p>
            <a:pPr algn="ctr">
              <a:defRPr sz="5400" b="1">
                <a:solidFill>
                  <a:srgbClr val="FFFFFF"/>
                </a:solidFill>
                <a:latin typeface="Segoe UI"/>
              </a:defRPr>
            </a:pPr>
            <a:r>
              <a:t>Thank You!</a:t>
            </a:r>
          </a:p>
          <a:p>
            <a:pPr algn="ctr">
              <a:spcBef>
                <a:spcPts val="1500"/>
              </a:spcBef>
              <a:defRPr sz="2200">
                <a:solidFill>
                  <a:srgbClr val="4F46E5"/>
                </a:solidFill>
                <a:latin typeface="Segoe UI"/>
              </a:defRPr>
            </a:pPr>
            <a:r>
              <a:t>Let's proceed to the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